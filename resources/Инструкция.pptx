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72" y="-20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FC84C-29B9-BD64-2D87-F3D67FA28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4F176B-2255-0E80-AB55-F03CD441A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EAEA87-63C3-B7F7-B245-7AA1C638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17FF13-989F-DE92-2558-96927B7B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357AC7-87D3-D506-32BA-EC764CA9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448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27FF2-0D52-42BB-7897-5ECB5CF1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090D0E-782D-9CB9-17DE-61ABC9886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A7A2CB-3E19-F8F0-6294-2AC5EF1D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77D005-FDE4-E381-7181-0A10524C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5B0FDD-F328-5B59-8FF9-6B81E1A8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8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0B666-2BAB-FDB3-0B34-96FD67A3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A366A2-C9B0-7235-1F98-361080B0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8A695-D8A9-D5ED-D1C5-E31085BF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4E39C2-632C-6C4E-EF24-44B88501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C12EE6-1E67-E8C9-761B-B16C5D9B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11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B613C-4BF2-E282-9546-A1A14566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63372A-29C0-96C7-8215-1C0713E62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6874A9-CF77-1AAE-B810-BFA0AE882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1BA600-5C71-0063-A00D-80E55C14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C89B20-896E-F854-D05E-78A4AD619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1EB0DF-86EA-29C3-517C-48BF7869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19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07FAD-EE21-F9E8-04CE-A961CDBCF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397FEC-7E28-201F-163A-D0CC8C04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E8DD97-BC85-AA0B-B5F1-F7CF076D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129877-2C2F-4053-C04F-5AF445F89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8B2439-022E-3B17-3FA9-34FD836E8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DBD351-F5CE-2D7D-2B18-B8B5C402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E0440D-05A4-AE50-41DF-338CCEDA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3502860-E6BF-CB2A-A02B-5B139509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69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C213B-2FD1-DC52-8500-EBF23CF4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D9BE80-AB88-C913-F941-286261E3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91587A-2913-0223-5F7D-C6876B50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2272F5-413B-5E44-E2C3-B699AF33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32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D64A70-46A3-3E07-302C-72DD1498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A6DD21-4AD2-54D6-B5E4-723D803C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6076AF-83EC-3B78-594F-81CBCC63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07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3FB67-D60F-17B1-FAE5-A593A2D7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3E95D9-8E8D-667D-5B21-003B5DF9F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99B608-74CB-0E59-5630-65916979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BF26F1-8FBA-E3ED-C3D2-0B7899582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E9D065-5C33-B0B0-2B73-DD16576C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0ED506-2782-DBE5-2552-6651D3B0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72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61745-B41E-453F-E392-05BF592FB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F82E80-6905-DBCD-34F4-19E70C819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F7A388-ADDF-E5A9-874A-3739CBE8E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EE9486-3D07-2712-2084-C19307D2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4A2883-9D18-BF3B-4C03-7C7BED5B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5FA71E-5A6E-7C17-4D81-8AA12B0F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78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B2C85-653D-0B57-CEE0-4EE89262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4C8A82-FCEF-36FA-6D9B-0615B0963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42F68-6691-58C0-C624-BBA38839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4BEFF7-B164-4313-BCB1-35334DA9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025919-99F8-3229-1EB5-6697D478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72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4F6AB6-FAEE-C181-05C3-BDDE7099D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ABA8BA-908A-66D3-3F51-C3277A9A7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05A59C-8F71-F4F4-B072-BDA952FC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56B418-7A8D-023D-200F-6943AED2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B4A70E-7307-2B68-03B2-48C03825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55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329E6-D216-F266-C5EC-BA9313B5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E9B5F5-991D-05EE-1784-91754DE13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09E970-EC41-51B7-27C8-4F07FE746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6B882-CED5-4FED-AC5D-DA9652BEB4FC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1F5FB7-F54B-1B0C-13FC-2C151122E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985F01-8E8D-9E74-396D-331C5E1E3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E35B9-593B-4FA7-888D-62FA8DDD36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05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E663E1-9416-5625-76E5-DCB0FFBDE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165145"/>
            <a:ext cx="12077700" cy="27057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EB0E6B-54E9-5901-9978-5E6BE3DD3C68}"/>
              </a:ext>
            </a:extLst>
          </p:cNvPr>
          <p:cNvSpPr txBox="1"/>
          <p:nvPr/>
        </p:nvSpPr>
        <p:spPr>
          <a:xfrm>
            <a:off x="4526279" y="3124842"/>
            <a:ext cx="390906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600" dirty="0"/>
          </a:p>
          <a:p>
            <a:r>
              <a:rPr lang="ru-RU" sz="1100" dirty="0"/>
              <a:t>5. Формирование спецификации:</a:t>
            </a:r>
          </a:p>
          <a:p>
            <a:r>
              <a:rPr lang="ru-RU" sz="1100" dirty="0"/>
              <a:t>    Нажмите "Предпросмотр" для проверки данных. В окне  </a:t>
            </a:r>
          </a:p>
          <a:p>
            <a:r>
              <a:rPr lang="ru-RU" sz="1100" dirty="0"/>
              <a:t>предпросмотра можно: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 Удалить ненужные позиции (правой кнопкой мыши)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 Добавить дополнительные кронштейны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 Скопировать артикулы или количества    </a:t>
            </a:r>
          </a:p>
          <a:p>
            <a:r>
              <a:rPr lang="ru-RU" sz="1100" dirty="0"/>
              <a:t>     </a:t>
            </a:r>
          </a:p>
          <a:p>
            <a:r>
              <a:rPr lang="ru-RU" sz="1100" dirty="0"/>
              <a:t>6. Сброс – при нажатии обнуляются все значения в заполненных ячейках матрицы радиаторов</a:t>
            </a:r>
          </a:p>
          <a:p>
            <a:endParaRPr lang="ru-RU" sz="1100" dirty="0"/>
          </a:p>
          <a:p>
            <a:r>
              <a:rPr lang="ru-RU" sz="1100" dirty="0"/>
              <a:t>7. Сохраните спецификацию в формате (</a:t>
            </a:r>
            <a:r>
              <a:rPr lang="ru-RU" sz="1100" dirty="0" err="1"/>
              <a:t>xlsx</a:t>
            </a:r>
            <a:r>
              <a:rPr lang="ru-RU" sz="1100" dirty="0"/>
              <a:t>)</a:t>
            </a:r>
          </a:p>
          <a:p>
            <a:endParaRPr lang="ru-RU" sz="1100" dirty="0"/>
          </a:p>
          <a:p>
            <a:r>
              <a:rPr lang="ru-RU" sz="1100" dirty="0"/>
              <a:t>8. Загрузить данные: – при нажатии появится список из которого можно выбрать какой файл вы хотите загрузить. Это может быть спецификация, ранее созданная в этой программе, это может быть спецификация с радиаторами других производителей и наконец </a:t>
            </a:r>
            <a:r>
              <a:rPr lang="en-US" sz="1100" dirty="0"/>
              <a:t>pdf</a:t>
            </a:r>
            <a:r>
              <a:rPr lang="ru-RU" sz="1100" dirty="0"/>
              <a:t> файл</a:t>
            </a:r>
          </a:p>
          <a:p>
            <a:endParaRPr lang="ru-RU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51BDDF-AF5C-D9D0-C5C3-88DB9689AE60}"/>
              </a:ext>
            </a:extLst>
          </p:cNvPr>
          <p:cNvSpPr txBox="1"/>
          <p:nvPr/>
        </p:nvSpPr>
        <p:spPr>
          <a:xfrm>
            <a:off x="289490" y="2945557"/>
            <a:ext cx="4306894" cy="3816429"/>
          </a:xfrm>
          <a:prstGeom prst="rect">
            <a:avLst/>
          </a:prstGeom>
          <a:noFill/>
        </p:spPr>
        <p:txBody>
          <a:bodyPr wrap="square" lIns="108000">
            <a:spAutoFit/>
          </a:bodyPr>
          <a:lstStyle/>
          <a:p>
            <a:r>
              <a:rPr lang="ru-RU" sz="1100" dirty="0"/>
              <a:t>ПОРЯДОК РАБОТЫ:            </a:t>
            </a:r>
          </a:p>
          <a:p>
            <a:r>
              <a:rPr lang="ru-RU" sz="1100" dirty="0"/>
              <a:t>1. Выбор параметров</a:t>
            </a:r>
          </a:p>
          <a:p>
            <a:r>
              <a:rPr lang="ru-RU" sz="1100" dirty="0"/>
              <a:t>   В верхней части окна выберите: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Вид подключения </a:t>
            </a:r>
            <a:r>
              <a:rPr lang="en-US" sz="1100" b="1" dirty="0"/>
              <a:t>Classic</a:t>
            </a:r>
            <a:r>
              <a:rPr lang="en-US" sz="1100" dirty="0"/>
              <a:t> </a:t>
            </a:r>
            <a:r>
              <a:rPr lang="ru-RU" sz="1100" dirty="0"/>
              <a:t>(</a:t>
            </a:r>
            <a:r>
              <a:rPr lang="ru-RU" sz="1100" dirty="0" err="1"/>
              <a:t>VK</a:t>
            </a:r>
            <a:r>
              <a:rPr lang="ru-RU" sz="1100" dirty="0"/>
              <a:t>-правое, </a:t>
            </a:r>
            <a:r>
              <a:rPr lang="ru-RU" sz="1100" dirty="0" err="1"/>
              <a:t>VK</a:t>
            </a:r>
            <a:r>
              <a:rPr lang="ru-RU" sz="1100" dirty="0"/>
              <a:t>-левое, K-боковое)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Вид подключения </a:t>
            </a:r>
            <a:r>
              <a:rPr lang="en-US" sz="1100" b="1" dirty="0">
                <a:solidFill>
                  <a:srgbClr val="00B050"/>
                </a:solidFill>
              </a:rPr>
              <a:t>Hygiene </a:t>
            </a:r>
            <a:r>
              <a:rPr lang="ru-RU" sz="1100" dirty="0">
                <a:solidFill>
                  <a:srgbClr val="00B050"/>
                </a:solidFill>
              </a:rPr>
              <a:t>(</a:t>
            </a:r>
            <a:r>
              <a:rPr lang="en-US" sz="1100" dirty="0">
                <a:solidFill>
                  <a:srgbClr val="00B050"/>
                </a:solidFill>
              </a:rPr>
              <a:t>H</a:t>
            </a:r>
            <a:r>
              <a:rPr lang="ru-RU" sz="1100" dirty="0">
                <a:solidFill>
                  <a:srgbClr val="00B050"/>
                </a:solidFill>
              </a:rPr>
              <a:t>V-правое, </a:t>
            </a:r>
            <a:r>
              <a:rPr lang="en-US" sz="1100" dirty="0">
                <a:solidFill>
                  <a:srgbClr val="00B050"/>
                </a:solidFill>
              </a:rPr>
              <a:t>H</a:t>
            </a:r>
            <a:r>
              <a:rPr lang="ru-RU" sz="1100" dirty="0">
                <a:solidFill>
                  <a:srgbClr val="00B050"/>
                </a:solidFill>
              </a:rPr>
              <a:t>V-левое, </a:t>
            </a:r>
            <a:r>
              <a:rPr lang="en-US" sz="1100" dirty="0">
                <a:solidFill>
                  <a:srgbClr val="00B050"/>
                </a:solidFill>
              </a:rPr>
              <a:t>H</a:t>
            </a:r>
            <a:r>
              <a:rPr lang="ru-RU" sz="1100" dirty="0">
                <a:solidFill>
                  <a:srgbClr val="00B050"/>
                </a:solidFill>
              </a:rPr>
              <a:t>-боковое)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Тип радиатора (10, 11, 20, 21, 22, 30, 33)</a:t>
            </a:r>
          </a:p>
          <a:p>
            <a:r>
              <a:rPr lang="ru-RU" sz="1100" dirty="0"/>
              <a:t>            </a:t>
            </a:r>
          </a:p>
          <a:p>
            <a:r>
              <a:rPr lang="ru-RU" sz="1100" dirty="0"/>
              <a:t>2. Заполнение матрицы радиаторов:</a:t>
            </a:r>
          </a:p>
          <a:p>
            <a:r>
              <a:rPr lang="ru-RU" sz="1100" dirty="0"/>
              <a:t>    В центральной таблице укажите количество   радиаторов для      </a:t>
            </a:r>
          </a:p>
          <a:p>
            <a:r>
              <a:rPr lang="ru-RU" sz="1100" dirty="0"/>
              <a:t>    нужных размеров. Можно вводить значения вида "1+2" для  </a:t>
            </a:r>
          </a:p>
          <a:p>
            <a:r>
              <a:rPr lang="ru-RU" sz="1100" dirty="0"/>
              <a:t>    сложения количества радиаторов</a:t>
            </a:r>
          </a:p>
          <a:p>
            <a:r>
              <a:rPr lang="ru-RU" sz="1100" dirty="0"/>
              <a:t>    Для просмотра характеристик радиатора наведите курсор на    </a:t>
            </a:r>
          </a:p>
          <a:p>
            <a:r>
              <a:rPr lang="ru-RU" sz="1100" dirty="0"/>
              <a:t>    ячейку, используйте чекбокс "Показывать параметры и стоимость»</a:t>
            </a:r>
          </a:p>
          <a:p>
            <a:endParaRPr lang="en-US" sz="1100" dirty="0"/>
          </a:p>
          <a:p>
            <a:r>
              <a:rPr lang="en-US" sz="1100" dirty="0"/>
              <a:t>3</a:t>
            </a:r>
            <a:r>
              <a:rPr lang="ru-RU" sz="1100" dirty="0"/>
              <a:t>. Установите температурный график (при необходимости)</a:t>
            </a:r>
          </a:p>
          <a:p>
            <a:endParaRPr lang="ru-RU" sz="1100" dirty="0"/>
          </a:p>
          <a:p>
            <a:r>
              <a:rPr lang="en-US" sz="1100" dirty="0"/>
              <a:t>4</a:t>
            </a:r>
            <a:r>
              <a:rPr lang="ru-RU" sz="1100" dirty="0"/>
              <a:t>. Кронштейны и скидки</a:t>
            </a:r>
            <a:endParaRPr lang="en-US" sz="1100" dirty="0"/>
          </a:p>
          <a:p>
            <a:r>
              <a:rPr lang="ru-RU" sz="1100" dirty="0"/>
              <a:t>    В нижней части окна выберите тип крепления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настенные кронштейны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напольные кронштейны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без кронштейнов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1BD5312-F9FB-F04C-8F83-C84CD0C2B04F}"/>
              </a:ext>
            </a:extLst>
          </p:cNvPr>
          <p:cNvSpPr/>
          <p:nvPr/>
        </p:nvSpPr>
        <p:spPr>
          <a:xfrm>
            <a:off x="426720" y="722376"/>
            <a:ext cx="7444740" cy="335280"/>
          </a:xfrm>
          <a:prstGeom prst="rect">
            <a:avLst/>
          </a:prstGeom>
          <a:noFill/>
          <a:ln w="1905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0" name="Выноска: стрелка влево 19">
            <a:extLst>
              <a:ext uri="{FF2B5EF4-FFF2-40B4-BE49-F238E27FC236}">
                <a16:creationId xmlns:a16="http://schemas.microsoft.com/office/drawing/2014/main" id="{458B6F27-C14E-5002-0DDA-23EC1D833CC5}"/>
              </a:ext>
            </a:extLst>
          </p:cNvPr>
          <p:cNvSpPr/>
          <p:nvPr/>
        </p:nvSpPr>
        <p:spPr>
          <a:xfrm>
            <a:off x="7902194" y="748855"/>
            <a:ext cx="459740" cy="27114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7244"/>
            </a:avLst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200" kern="100" dirty="0">
                <a:solidFill>
                  <a:srgbClr val="EE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ru-RU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AE82CEB-377C-CB5B-753F-A60F34FCB977}"/>
              </a:ext>
            </a:extLst>
          </p:cNvPr>
          <p:cNvSpPr/>
          <p:nvPr/>
        </p:nvSpPr>
        <p:spPr>
          <a:xfrm>
            <a:off x="359664" y="1336040"/>
            <a:ext cx="11753088" cy="864616"/>
          </a:xfrm>
          <a:prstGeom prst="rect">
            <a:avLst/>
          </a:prstGeom>
          <a:noFill/>
          <a:ln w="1905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                                                                                                            </a:t>
            </a:r>
            <a:r>
              <a:rPr lang="ru-RU" sz="3200" dirty="0">
                <a:solidFill>
                  <a:srgbClr val="FF0000"/>
                </a:solidFill>
              </a:rPr>
              <a:t>2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CACE98C-02FB-2BA1-E114-D7B0E28F181D}"/>
              </a:ext>
            </a:extLst>
          </p:cNvPr>
          <p:cNvSpPr/>
          <p:nvPr/>
        </p:nvSpPr>
        <p:spPr>
          <a:xfrm>
            <a:off x="3861816" y="2630424"/>
            <a:ext cx="4983480" cy="233172"/>
          </a:xfrm>
          <a:prstGeom prst="rect">
            <a:avLst/>
          </a:prstGeom>
          <a:noFill/>
          <a:ln w="1905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6" name="Выноска: стрелка вниз 25">
            <a:extLst>
              <a:ext uri="{FF2B5EF4-FFF2-40B4-BE49-F238E27FC236}">
                <a16:creationId xmlns:a16="http://schemas.microsoft.com/office/drawing/2014/main" id="{420AD3BB-E4FE-BD25-AEEF-F6B38232ED2D}"/>
              </a:ext>
            </a:extLst>
          </p:cNvPr>
          <p:cNvSpPr/>
          <p:nvPr/>
        </p:nvSpPr>
        <p:spPr>
          <a:xfrm>
            <a:off x="10343198" y="0"/>
            <a:ext cx="397954" cy="407670"/>
          </a:xfrm>
          <a:prstGeom prst="downArrowCallout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1200" kern="100" dirty="0">
                <a:solidFill>
                  <a:srgbClr val="EE0000"/>
                </a:solidFill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7" name="Выноска: стрелка вниз 26">
            <a:extLst>
              <a:ext uri="{FF2B5EF4-FFF2-40B4-BE49-F238E27FC236}">
                <a16:creationId xmlns:a16="http://schemas.microsoft.com/office/drawing/2014/main" id="{49D27937-7120-22FD-28C3-3429416D81D7}"/>
              </a:ext>
            </a:extLst>
          </p:cNvPr>
          <p:cNvSpPr/>
          <p:nvPr/>
        </p:nvSpPr>
        <p:spPr>
          <a:xfrm>
            <a:off x="4529138" y="0"/>
            <a:ext cx="314325" cy="407670"/>
          </a:xfrm>
          <a:prstGeom prst="downArrowCallout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200" kern="100" dirty="0">
                <a:solidFill>
                  <a:srgbClr val="EE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endParaRPr lang="ru-RU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Выноска: стрелка вниз 27">
            <a:extLst>
              <a:ext uri="{FF2B5EF4-FFF2-40B4-BE49-F238E27FC236}">
                <a16:creationId xmlns:a16="http://schemas.microsoft.com/office/drawing/2014/main" id="{B22B6B14-FF36-6D27-8A7F-2523A8F23B1D}"/>
              </a:ext>
            </a:extLst>
          </p:cNvPr>
          <p:cNvSpPr/>
          <p:nvPr/>
        </p:nvSpPr>
        <p:spPr>
          <a:xfrm>
            <a:off x="1496378" y="0"/>
            <a:ext cx="314325" cy="407670"/>
          </a:xfrm>
          <a:prstGeom prst="downArrowCallout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200" kern="100" dirty="0">
                <a:solidFill>
                  <a:srgbClr val="EE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endParaRPr lang="ru-RU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Выноска: стрелка вниз 28">
            <a:extLst>
              <a:ext uri="{FF2B5EF4-FFF2-40B4-BE49-F238E27FC236}">
                <a16:creationId xmlns:a16="http://schemas.microsoft.com/office/drawing/2014/main" id="{0A777C3B-7FF7-312A-D274-BAAEFEA9B7EB}"/>
              </a:ext>
            </a:extLst>
          </p:cNvPr>
          <p:cNvSpPr/>
          <p:nvPr/>
        </p:nvSpPr>
        <p:spPr>
          <a:xfrm>
            <a:off x="7318058" y="0"/>
            <a:ext cx="314325" cy="407670"/>
          </a:xfrm>
          <a:prstGeom prst="downArrowCallout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1200" kern="100" dirty="0">
                <a:solidFill>
                  <a:srgbClr val="EE0000"/>
                </a:solidFill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87BE74-B5AB-C899-C1F5-705652438A51}"/>
              </a:ext>
            </a:extLst>
          </p:cNvPr>
          <p:cNvSpPr txBox="1"/>
          <p:nvPr/>
        </p:nvSpPr>
        <p:spPr>
          <a:xfrm>
            <a:off x="8730615" y="3363218"/>
            <a:ext cx="33242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Информация  – при нажатии появится список из  </a:t>
            </a: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которого можно выбрать: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Лицензионное соглашение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Инструкция по использованию программы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Формуляр для регистрации проектов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Каталог отопительного оборудования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Паспорт на радиатор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Сертификат соответствия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BIM</a:t>
            </a: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-модель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10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Проверить наличие обновлений, путём сверки версий, ранняя версия имеет меньший номер.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Масштаб, кнопки – и + меняют масштаб интерфейса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Подсказки отображает характеристики и стоимость радиаторов, также показывают рекомендованные кронштейны и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r>
              <a:rPr lang="ru-RU" sz="1100" dirty="0">
                <a:solidFill>
                  <a:prstClr val="black"/>
                </a:solidFill>
                <a:latin typeface="Calibri" panose="020F0502020204030204"/>
              </a:rPr>
              <a:t>х количества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148278-692E-4B2B-F07F-D2CE6C1EC949}"/>
              </a:ext>
            </a:extLst>
          </p:cNvPr>
          <p:cNvSpPr/>
          <p:nvPr/>
        </p:nvSpPr>
        <p:spPr>
          <a:xfrm>
            <a:off x="11346180" y="757428"/>
            <a:ext cx="845820" cy="335280"/>
          </a:xfrm>
          <a:prstGeom prst="rect">
            <a:avLst/>
          </a:prstGeom>
          <a:noFill/>
          <a:ln w="1905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8" name="Выноска: стрелка влево 7">
            <a:extLst>
              <a:ext uri="{FF2B5EF4-FFF2-40B4-BE49-F238E27FC236}">
                <a16:creationId xmlns:a16="http://schemas.microsoft.com/office/drawing/2014/main" id="{A6213F26-9F95-3661-A494-764A1139F82F}"/>
              </a:ext>
            </a:extLst>
          </p:cNvPr>
          <p:cNvSpPr/>
          <p:nvPr/>
        </p:nvSpPr>
        <p:spPr>
          <a:xfrm>
            <a:off x="8883650" y="2595943"/>
            <a:ext cx="459740" cy="27114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7244"/>
            </a:avLst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solidFill>
                  <a:srgbClr val="EE0000"/>
                </a:solidFill>
                <a:cs typeface="Times New Roman" panose="02020603050405020304" pitchFamily="18" charset="0"/>
              </a:rPr>
              <a:t>4</a:t>
            </a:r>
            <a:endParaRPr lang="ru-RU" sz="1200" kern="100" dirty="0">
              <a:solidFill>
                <a:srgbClr val="EE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Выноска: стрелка влево 10">
            <a:extLst>
              <a:ext uri="{FF2B5EF4-FFF2-40B4-BE49-F238E27FC236}">
                <a16:creationId xmlns:a16="http://schemas.microsoft.com/office/drawing/2014/main" id="{5FA39797-1B4B-2709-0579-BF2DA1E7BDDB}"/>
              </a:ext>
            </a:extLst>
          </p:cNvPr>
          <p:cNvSpPr/>
          <p:nvPr/>
        </p:nvSpPr>
        <p:spPr>
          <a:xfrm>
            <a:off x="2403602" y="2602039"/>
            <a:ext cx="607822" cy="27114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7244"/>
            </a:avLst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200" kern="100" dirty="0">
                <a:solidFill>
                  <a:srgbClr val="EE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endParaRPr lang="ru-RU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Выноска: стрелка вправо 14">
            <a:extLst>
              <a:ext uri="{FF2B5EF4-FFF2-40B4-BE49-F238E27FC236}">
                <a16:creationId xmlns:a16="http://schemas.microsoft.com/office/drawing/2014/main" id="{411D02A5-50D3-4272-06A1-67B2F266AA2B}"/>
              </a:ext>
            </a:extLst>
          </p:cNvPr>
          <p:cNvSpPr/>
          <p:nvPr/>
        </p:nvSpPr>
        <p:spPr>
          <a:xfrm>
            <a:off x="60960" y="2602992"/>
            <a:ext cx="335280" cy="213360"/>
          </a:xfrm>
          <a:prstGeom prst="rightArrowCallout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solidFill>
                  <a:srgbClr val="EE0000"/>
                </a:solidFill>
                <a:cs typeface="Times New Roman" panose="02020603050405020304" pitchFamily="18" charset="0"/>
              </a:rPr>
              <a:t>5</a:t>
            </a:r>
            <a:endParaRPr lang="ru-RU" sz="1200" kern="100" dirty="0">
              <a:solidFill>
                <a:srgbClr val="EE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046CCE2-4440-EA8D-4CBC-0291522FC93E}"/>
              </a:ext>
            </a:extLst>
          </p:cNvPr>
          <p:cNvSpPr/>
          <p:nvPr/>
        </p:nvSpPr>
        <p:spPr>
          <a:xfrm>
            <a:off x="85344" y="2301240"/>
            <a:ext cx="5023104" cy="233172"/>
          </a:xfrm>
          <a:prstGeom prst="rect">
            <a:avLst/>
          </a:prstGeom>
          <a:noFill/>
          <a:ln w="1905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24" name="Выноска: стрелка влево 23">
            <a:extLst>
              <a:ext uri="{FF2B5EF4-FFF2-40B4-BE49-F238E27FC236}">
                <a16:creationId xmlns:a16="http://schemas.microsoft.com/office/drawing/2014/main" id="{B61E5A2C-B834-838C-F440-52DBC2558A61}"/>
              </a:ext>
            </a:extLst>
          </p:cNvPr>
          <p:cNvSpPr/>
          <p:nvPr/>
        </p:nvSpPr>
        <p:spPr>
          <a:xfrm>
            <a:off x="5122418" y="2278951"/>
            <a:ext cx="459740" cy="27114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7244"/>
            </a:avLst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kern="100" dirty="0">
                <a:solidFill>
                  <a:srgbClr val="EE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ru-RU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Выноска: стрелка вправо 24">
            <a:extLst>
              <a:ext uri="{FF2B5EF4-FFF2-40B4-BE49-F238E27FC236}">
                <a16:creationId xmlns:a16="http://schemas.microsoft.com/office/drawing/2014/main" id="{4E72A958-539F-1AF8-3F3D-44A8D71C6B46}"/>
              </a:ext>
            </a:extLst>
          </p:cNvPr>
          <p:cNvSpPr/>
          <p:nvPr/>
        </p:nvSpPr>
        <p:spPr>
          <a:xfrm>
            <a:off x="10052304" y="2633472"/>
            <a:ext cx="396240" cy="213360"/>
          </a:xfrm>
          <a:prstGeom prst="rightArrowCallout">
            <a:avLst/>
          </a:prstGeom>
          <a:noFill/>
          <a:ln w="9525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solidFill>
                  <a:srgbClr val="EE0000"/>
                </a:solidFill>
                <a:cs typeface="Times New Roman" panose="02020603050405020304" pitchFamily="18" charset="0"/>
              </a:rPr>
              <a:t>6</a:t>
            </a:r>
            <a:endParaRPr lang="ru-RU" sz="1200" kern="100" dirty="0">
              <a:solidFill>
                <a:srgbClr val="EE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1130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323</Words>
  <Application>Microsoft Office PowerPoint</Application>
  <PresentationFormat>Широкоэкранный</PresentationFormat>
  <Paragraphs>61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Абдуллин Олег (EngP3/SLC1)</dc:creator>
  <cp:lastModifiedBy>Абдуллин Олег (EngP3/SLC1)</cp:lastModifiedBy>
  <cp:revision>5</cp:revision>
  <dcterms:created xsi:type="dcterms:W3CDTF">2026-01-26T05:33:19Z</dcterms:created>
  <dcterms:modified xsi:type="dcterms:W3CDTF">2026-09-18T06:06:09Z</dcterms:modified>
</cp:coreProperties>
</file>