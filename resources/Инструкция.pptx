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>
        <p:scale>
          <a:sx n="125" d="100"/>
          <a:sy n="125" d="100"/>
        </p:scale>
        <p:origin x="-1963" y="-224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4FC84C-29B9-BD64-2D87-F3D67FA28E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04F176B-2255-0E80-AB55-F03CD441A1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9EAEA87-63C3-B7F7-B245-7AA1C63847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6B882-CED5-4FED-AC5D-DA9652BEB4FC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817FF13-989F-DE92-2558-96927B7BB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1357AC7-87D3-D506-32BA-EC764CA99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1E35B9-593B-4FA7-888D-62FA8DDD367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24485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B27FF2-0D52-42BB-7897-5ECB5CF10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D090D0E-782D-9CB9-17DE-61ABC98860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7A7A2CB-3E19-F8F0-6294-2AC5EF1DA9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6B882-CED5-4FED-AC5D-DA9652BEB4FC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777D005-FDE4-E381-7181-0A10524CFB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25B0FDD-F328-5B59-8FF9-6B81E1A82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1E35B9-593B-4FA7-888D-62FA8DDD367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4886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80B666-2BAB-FDB3-0B34-96FD67A34D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DA366A2-C9B0-7235-1F98-361080B0AF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3B8A695-D8A9-D5ED-D1C5-E31085BFD8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6B882-CED5-4FED-AC5D-DA9652BEB4FC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74E39C2-632C-6C4E-EF24-44B88501A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8C12EE6-1E67-E8C9-761B-B16C5D9BB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1E35B9-593B-4FA7-888D-62FA8DDD367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51189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4B613C-4BF2-E282-9546-A1A14566B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863372A-29C0-96C7-8215-1C0713E62C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26874A9-CF77-1AAE-B810-BFA0AE8826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B1BA600-5C71-0063-A00D-80E55C144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6B882-CED5-4FED-AC5D-DA9652BEB4FC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BC89B20-896E-F854-D05E-78A4AD619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91EB0DF-86EA-29C3-517C-48BF78691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1E35B9-593B-4FA7-888D-62FA8DDD367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31971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507FAD-EE21-F9E8-04CE-A961CDBCF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F397FEC-7E28-201F-163A-D0CC8C04AE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6E8DD97-BC85-AA0B-B5F1-F7CF076DFE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7129877-2C2F-4053-C04F-5AF445F895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3E8B2439-022E-3B17-3FA9-34FD836E8C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53DBD351-F5CE-2D7D-2B18-B8B5C4028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6B882-CED5-4FED-AC5D-DA9652BEB4FC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DAE0440D-05A4-AE50-41DF-338CCEDA53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D3502860-E6BF-CB2A-A02B-5B139509E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1E35B9-593B-4FA7-888D-62FA8DDD367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66932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EC213B-2FD1-DC52-8500-EBF23CF44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B8D9BE80-AB88-C913-F941-286261E32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6B882-CED5-4FED-AC5D-DA9652BEB4FC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3791587A-2913-0223-5F7D-C6876B5025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C2272F5-413B-5E44-E2C3-B699AF33C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1E35B9-593B-4FA7-888D-62FA8DDD367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9328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68D64A70-46A3-3E07-302C-72DD1498AF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6B882-CED5-4FED-AC5D-DA9652BEB4FC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BA6DD21-4AD2-54D6-B5E4-723D803CA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B6076AF-83EC-3B78-594F-81CBCC63F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1E35B9-593B-4FA7-888D-62FA8DDD367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3079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D3FB67-D60F-17B1-FAE5-A593A2D71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23E95D9-8E8D-667D-5B21-003B5DF9FF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999B608-74CB-0E59-5630-6591697965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8BF26F1-8FBA-E3ED-C3D2-0B7899582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6B882-CED5-4FED-AC5D-DA9652BEB4FC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AE9D065-5C33-B0B0-2B73-DD16576CC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10ED506-2782-DBE5-2552-6651D3B09B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1E35B9-593B-4FA7-888D-62FA8DDD367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67251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F61745-B41E-453F-E392-05BF592FB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71F82E80-6905-DBCD-34F4-19E70C8198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0F7A388-ADDF-E5A9-874A-3739CBE8EB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9EE9486-3D07-2712-2084-C19307D2C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6B882-CED5-4FED-AC5D-DA9652BEB4FC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E4A2883-9D18-BF3B-4C03-7C7BED5B25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45FA71E-5A6E-7C17-4D81-8AA12B0F7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1E35B9-593B-4FA7-888D-62FA8DDD367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27885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3B2C85-653D-0B57-CEE0-4EE89262E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84C8A82-FCEF-36FA-6D9B-0615B09639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1B42F68-6691-58C0-C624-BBA38839A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6B882-CED5-4FED-AC5D-DA9652BEB4FC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24BEFF7-B164-4313-BCB1-35334DA92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1025919-99F8-3229-1EB5-6697D4783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1E35B9-593B-4FA7-888D-62FA8DDD367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77283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E4F6AB6-FAEE-C181-05C3-BDDE7099DB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B7ABA8BA-908A-66D3-3F51-C3277A9A73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105A59C-8F71-F4F4-B072-BDA952FC73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6B882-CED5-4FED-AC5D-DA9652BEB4FC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256B418-7A8D-023D-200F-6943AED2A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BB4A70E-7307-2B68-03B2-48C038250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1E35B9-593B-4FA7-888D-62FA8DDD367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15561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0329E6-D216-F266-C5EC-BA9313B5F0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5E9B5F5-991D-05EE-1784-91754DE13D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F09E970-EC41-51B7-27C8-4F07FE746C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06B882-CED5-4FED-AC5D-DA9652BEB4FC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B1F5FB7-F54B-1B0C-13FC-2C151122E9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0985F01-8E8D-9E74-396D-331C5E1E35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1E35B9-593B-4FA7-888D-62FA8DDD367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40561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0D921264-CBA6-7763-E689-CEEE681BAD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20" y="90581"/>
            <a:ext cx="11567160" cy="251748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8EB0E6B-54E9-5901-9978-5E6BE3DD3C68}"/>
              </a:ext>
            </a:extLst>
          </p:cNvPr>
          <p:cNvSpPr txBox="1"/>
          <p:nvPr/>
        </p:nvSpPr>
        <p:spPr>
          <a:xfrm>
            <a:off x="4526279" y="3124842"/>
            <a:ext cx="3909061" cy="33855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ru-RU" sz="1600" dirty="0"/>
          </a:p>
          <a:p>
            <a:r>
              <a:rPr lang="ru-RU" sz="1100" dirty="0"/>
              <a:t>4. Формирование спецификации:</a:t>
            </a:r>
          </a:p>
          <a:p>
            <a:r>
              <a:rPr lang="ru-RU" sz="1100" dirty="0"/>
              <a:t>    Нажмите "Предпросмотр" для проверки данных. В окне  </a:t>
            </a:r>
          </a:p>
          <a:p>
            <a:r>
              <a:rPr lang="ru-RU" sz="1100" dirty="0"/>
              <a:t>предпросмотра можно: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100" dirty="0"/>
              <a:t> Удалить ненужные позиции (правой кнопкой мыши)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100" dirty="0"/>
              <a:t> Добавить дополнительные кронштейны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100" dirty="0"/>
              <a:t> Скопировать артикулы или количества    </a:t>
            </a:r>
          </a:p>
          <a:p>
            <a:r>
              <a:rPr lang="ru-RU" sz="1100" dirty="0"/>
              <a:t>     </a:t>
            </a:r>
          </a:p>
          <a:p>
            <a:r>
              <a:rPr lang="ru-RU" sz="1100" dirty="0"/>
              <a:t>5. Сброс – при нажатии обнуляются все значения в заполненных ячейках матрицы радиаторов</a:t>
            </a:r>
          </a:p>
          <a:p>
            <a:endParaRPr lang="ru-RU" sz="1100" dirty="0"/>
          </a:p>
          <a:p>
            <a:r>
              <a:rPr lang="ru-RU" sz="1100" dirty="0"/>
              <a:t>6. Сохраните спецификацию в формате (</a:t>
            </a:r>
            <a:r>
              <a:rPr lang="ru-RU" sz="1100" dirty="0" err="1"/>
              <a:t>xlsx</a:t>
            </a:r>
            <a:r>
              <a:rPr lang="ru-RU" sz="1100" dirty="0"/>
              <a:t>)</a:t>
            </a:r>
          </a:p>
          <a:p>
            <a:endParaRPr lang="ru-RU" sz="1100" dirty="0"/>
          </a:p>
          <a:p>
            <a:r>
              <a:rPr lang="ru-RU" sz="1100" dirty="0"/>
              <a:t>7. Загрузить из: – при нажатии появится список из которого можно выбрать какой файл вы хотите загрузить. Это может быть спецификация, ранее созданная в этой программе, это может быть спецификация с радиаторами других производителей и наконец </a:t>
            </a:r>
            <a:r>
              <a:rPr lang="en-US" sz="1100" dirty="0"/>
              <a:t>pdf</a:t>
            </a:r>
            <a:r>
              <a:rPr lang="ru-RU" sz="1100" dirty="0"/>
              <a:t> файл</a:t>
            </a:r>
          </a:p>
          <a:p>
            <a:endParaRPr lang="ru-RU" sz="11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51BDDF-AF5C-D9D0-C5C3-88DB9689AE60}"/>
              </a:ext>
            </a:extLst>
          </p:cNvPr>
          <p:cNvSpPr txBox="1"/>
          <p:nvPr/>
        </p:nvSpPr>
        <p:spPr>
          <a:xfrm>
            <a:off x="326066" y="3024805"/>
            <a:ext cx="4306894" cy="3647152"/>
          </a:xfrm>
          <a:prstGeom prst="rect">
            <a:avLst/>
          </a:prstGeom>
          <a:noFill/>
        </p:spPr>
        <p:txBody>
          <a:bodyPr wrap="square" lIns="108000">
            <a:spAutoFit/>
          </a:bodyPr>
          <a:lstStyle/>
          <a:p>
            <a:r>
              <a:rPr lang="ru-RU" sz="1100" dirty="0"/>
              <a:t>ПОРЯДОК РАБОТЫ:</a:t>
            </a:r>
          </a:p>
          <a:p>
            <a:r>
              <a:rPr lang="ru-RU" sz="1100" dirty="0"/>
              <a:t>            </a:t>
            </a:r>
          </a:p>
          <a:p>
            <a:r>
              <a:rPr lang="ru-RU" sz="1100" dirty="0"/>
              <a:t>1. Выбор параметров</a:t>
            </a:r>
          </a:p>
          <a:p>
            <a:r>
              <a:rPr lang="ru-RU" sz="1100" dirty="0"/>
              <a:t>   В верхней части окна выберите: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100" dirty="0"/>
              <a:t>Вид подключения (</a:t>
            </a:r>
            <a:r>
              <a:rPr lang="ru-RU" sz="1100" dirty="0" err="1"/>
              <a:t>VK</a:t>
            </a:r>
            <a:r>
              <a:rPr lang="ru-RU" sz="1100" dirty="0"/>
              <a:t>-правое, </a:t>
            </a:r>
            <a:r>
              <a:rPr lang="ru-RU" sz="1100" dirty="0" err="1"/>
              <a:t>VK</a:t>
            </a:r>
            <a:r>
              <a:rPr lang="ru-RU" sz="1100" dirty="0"/>
              <a:t>-левое, K-боковое)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100" dirty="0"/>
              <a:t>Тип радиатора (10, 11, 20, 21, 22, 30, 33)</a:t>
            </a:r>
          </a:p>
          <a:p>
            <a:r>
              <a:rPr lang="ru-RU" sz="1100" dirty="0"/>
              <a:t>            </a:t>
            </a:r>
          </a:p>
          <a:p>
            <a:r>
              <a:rPr lang="ru-RU" sz="1100" dirty="0"/>
              <a:t>2. Заполнение матрицы радиаторов:</a:t>
            </a:r>
          </a:p>
          <a:p>
            <a:r>
              <a:rPr lang="ru-RU" sz="1100" dirty="0"/>
              <a:t>    В центральной таблице укажите количество   радиаторов для      </a:t>
            </a:r>
          </a:p>
          <a:p>
            <a:r>
              <a:rPr lang="ru-RU" sz="1100" dirty="0"/>
              <a:t>    нужных размеров. Можно вводить значения вида "1+2" для  </a:t>
            </a:r>
          </a:p>
          <a:p>
            <a:r>
              <a:rPr lang="ru-RU" sz="1100" dirty="0"/>
              <a:t>    сложения количества радиаторов</a:t>
            </a:r>
          </a:p>
          <a:p>
            <a:r>
              <a:rPr lang="ru-RU" sz="1100" dirty="0"/>
              <a:t>    Для просмотра характеристик радиатора наведите курсор на    </a:t>
            </a:r>
          </a:p>
          <a:p>
            <a:r>
              <a:rPr lang="ru-RU" sz="1100" dirty="0"/>
              <a:t>    ячейку, используйте чекбокс "Показывать параметры и стоимость»</a:t>
            </a:r>
          </a:p>
          <a:p>
            <a:pPr marL="171450" indent="-171450">
              <a:buFontTx/>
              <a:buChar char="-"/>
            </a:pPr>
            <a:endParaRPr lang="ru-RU" sz="1100" dirty="0"/>
          </a:p>
          <a:p>
            <a:r>
              <a:rPr lang="ru-RU" sz="1100" dirty="0"/>
              <a:t>3. Кронштейны и скидки</a:t>
            </a:r>
          </a:p>
          <a:p>
            <a:r>
              <a:rPr lang="ru-RU" sz="1100" dirty="0"/>
              <a:t>    В нижней части окна выберите тип крепления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100" dirty="0"/>
              <a:t>настенные кронштейны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100" dirty="0"/>
              <a:t>напольные кронштейны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100" dirty="0"/>
              <a:t>без кронштейнов</a:t>
            </a:r>
          </a:p>
          <a:p>
            <a:r>
              <a:rPr lang="ru-RU" sz="1100" dirty="0"/>
              <a:t>Установите скидки (при необходимости)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F1BD5312-F9FB-F04C-8F83-C84CD0C2B04F}"/>
              </a:ext>
            </a:extLst>
          </p:cNvPr>
          <p:cNvSpPr/>
          <p:nvPr/>
        </p:nvSpPr>
        <p:spPr>
          <a:xfrm>
            <a:off x="236220" y="760476"/>
            <a:ext cx="6499860" cy="335280"/>
          </a:xfrm>
          <a:prstGeom prst="rect">
            <a:avLst/>
          </a:prstGeom>
          <a:noFill/>
          <a:ln w="19050" cap="flat" cmpd="sng" algn="ctr">
            <a:solidFill>
              <a:srgbClr val="EE0000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ru-RU"/>
          </a:p>
        </p:txBody>
      </p:sp>
      <p:sp>
        <p:nvSpPr>
          <p:cNvPr id="20" name="Выноска: стрелка влево 19">
            <a:extLst>
              <a:ext uri="{FF2B5EF4-FFF2-40B4-BE49-F238E27FC236}">
                <a16:creationId xmlns:a16="http://schemas.microsoft.com/office/drawing/2014/main" id="{458B6F27-C14E-5002-0DDA-23EC1D833CC5}"/>
              </a:ext>
            </a:extLst>
          </p:cNvPr>
          <p:cNvSpPr/>
          <p:nvPr/>
        </p:nvSpPr>
        <p:spPr>
          <a:xfrm>
            <a:off x="6765290" y="774763"/>
            <a:ext cx="459740" cy="271145"/>
          </a:xfrm>
          <a:prstGeom prst="leftArrowCallout">
            <a:avLst>
              <a:gd name="adj1" fmla="val 25000"/>
              <a:gd name="adj2" fmla="val 25000"/>
              <a:gd name="adj3" fmla="val 25000"/>
              <a:gd name="adj4" fmla="val 57244"/>
            </a:avLst>
          </a:prstGeom>
          <a:noFill/>
          <a:ln w="9525" cap="flat" cmpd="sng" algn="ctr">
            <a:solidFill>
              <a:srgbClr val="EE0000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ru-RU" sz="1200" kern="100" dirty="0">
                <a:solidFill>
                  <a:srgbClr val="EE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1</a:t>
            </a:r>
            <a:endParaRPr lang="ru-RU" sz="1200" kern="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FAE82CEB-377C-CB5B-753F-A60F34FCB977}"/>
              </a:ext>
            </a:extLst>
          </p:cNvPr>
          <p:cNvSpPr/>
          <p:nvPr/>
        </p:nvSpPr>
        <p:spPr>
          <a:xfrm>
            <a:off x="530352" y="1305560"/>
            <a:ext cx="11228832" cy="840232"/>
          </a:xfrm>
          <a:prstGeom prst="rect">
            <a:avLst/>
          </a:prstGeom>
          <a:noFill/>
          <a:ln w="19050" cap="flat" cmpd="sng" algn="ctr">
            <a:solidFill>
              <a:srgbClr val="EE0000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ru-RU" dirty="0">
                <a:solidFill>
                  <a:srgbClr val="FF0000"/>
                </a:solidFill>
              </a:rPr>
              <a:t>                                                                                                            </a:t>
            </a:r>
            <a:r>
              <a:rPr lang="ru-RU" sz="3200" dirty="0">
                <a:solidFill>
                  <a:srgbClr val="FF0000"/>
                </a:solidFill>
              </a:rPr>
              <a:t>2</a:t>
            </a:r>
            <a:endParaRPr lang="ru-RU" dirty="0">
              <a:solidFill>
                <a:srgbClr val="FF0000"/>
              </a:solidFill>
            </a:endParaRP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7CACE98C-02FB-2BA1-E114-D7B0E28F181D}"/>
              </a:ext>
            </a:extLst>
          </p:cNvPr>
          <p:cNvSpPr/>
          <p:nvPr/>
        </p:nvSpPr>
        <p:spPr>
          <a:xfrm>
            <a:off x="2747772" y="2189988"/>
            <a:ext cx="6845808" cy="335280"/>
          </a:xfrm>
          <a:prstGeom prst="rect">
            <a:avLst/>
          </a:prstGeom>
          <a:noFill/>
          <a:ln w="19050" cap="flat" cmpd="sng" algn="ctr">
            <a:solidFill>
              <a:srgbClr val="EE0000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ru-RU"/>
          </a:p>
        </p:txBody>
      </p:sp>
      <p:sp>
        <p:nvSpPr>
          <p:cNvPr id="23" name="Выноска: стрелка вверх 22">
            <a:extLst>
              <a:ext uri="{FF2B5EF4-FFF2-40B4-BE49-F238E27FC236}">
                <a16:creationId xmlns:a16="http://schemas.microsoft.com/office/drawing/2014/main" id="{3036CF55-E81B-C7C0-5D30-1E5260C28D63}"/>
              </a:ext>
            </a:extLst>
          </p:cNvPr>
          <p:cNvSpPr/>
          <p:nvPr/>
        </p:nvSpPr>
        <p:spPr>
          <a:xfrm>
            <a:off x="5955284" y="2536507"/>
            <a:ext cx="347980" cy="489585"/>
          </a:xfrm>
          <a:prstGeom prst="upArrowCallout">
            <a:avLst/>
          </a:prstGeom>
          <a:noFill/>
          <a:ln w="9525" cap="flat" cmpd="sng" algn="ctr">
            <a:solidFill>
              <a:srgbClr val="EE0000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ru-RU" sz="1200" kern="100" dirty="0">
                <a:solidFill>
                  <a:srgbClr val="FF0000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26" name="Выноска: стрелка вниз 25">
            <a:extLst>
              <a:ext uri="{FF2B5EF4-FFF2-40B4-BE49-F238E27FC236}">
                <a16:creationId xmlns:a16="http://schemas.microsoft.com/office/drawing/2014/main" id="{420AD3BB-E4FE-BD25-AEEF-F6B38232ED2D}"/>
              </a:ext>
            </a:extLst>
          </p:cNvPr>
          <p:cNvSpPr/>
          <p:nvPr/>
        </p:nvSpPr>
        <p:spPr>
          <a:xfrm>
            <a:off x="10145078" y="93345"/>
            <a:ext cx="314325" cy="407670"/>
          </a:xfrm>
          <a:prstGeom prst="downArrowCallout">
            <a:avLst/>
          </a:prstGeom>
          <a:noFill/>
          <a:ln w="9525" cap="flat" cmpd="sng" algn="ctr">
            <a:solidFill>
              <a:srgbClr val="EE0000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ru-RU" sz="1200" kern="100" dirty="0">
                <a:solidFill>
                  <a:srgbClr val="EE0000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9</a:t>
            </a:r>
            <a:endParaRPr lang="ru-RU" sz="1200" kern="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7" name="Выноска: стрелка вниз 26">
            <a:extLst>
              <a:ext uri="{FF2B5EF4-FFF2-40B4-BE49-F238E27FC236}">
                <a16:creationId xmlns:a16="http://schemas.microsoft.com/office/drawing/2014/main" id="{49D27937-7120-22FD-28C3-3429416D81D7}"/>
              </a:ext>
            </a:extLst>
          </p:cNvPr>
          <p:cNvSpPr/>
          <p:nvPr/>
        </p:nvSpPr>
        <p:spPr>
          <a:xfrm>
            <a:off x="4361498" y="93345"/>
            <a:ext cx="314325" cy="407670"/>
          </a:xfrm>
          <a:prstGeom prst="downArrowCallout">
            <a:avLst/>
          </a:prstGeom>
          <a:noFill/>
          <a:ln w="9525" cap="flat" cmpd="sng" algn="ctr">
            <a:solidFill>
              <a:srgbClr val="EE0000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ru-RU" sz="1200" kern="100" dirty="0">
                <a:solidFill>
                  <a:srgbClr val="EE0000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7</a:t>
            </a:r>
            <a:endParaRPr lang="ru-RU" sz="1200" kern="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8" name="Выноска: стрелка вниз 27">
            <a:extLst>
              <a:ext uri="{FF2B5EF4-FFF2-40B4-BE49-F238E27FC236}">
                <a16:creationId xmlns:a16="http://schemas.microsoft.com/office/drawing/2014/main" id="{B22B6B14-FF36-6D27-8A7F-2523A8F23B1D}"/>
              </a:ext>
            </a:extLst>
          </p:cNvPr>
          <p:cNvSpPr/>
          <p:nvPr/>
        </p:nvSpPr>
        <p:spPr>
          <a:xfrm>
            <a:off x="1633538" y="70485"/>
            <a:ext cx="314325" cy="407670"/>
          </a:xfrm>
          <a:prstGeom prst="downArrowCallout">
            <a:avLst/>
          </a:prstGeom>
          <a:noFill/>
          <a:ln w="9525" cap="flat" cmpd="sng" algn="ctr">
            <a:solidFill>
              <a:srgbClr val="EE0000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ru-RU" sz="1200" kern="100" dirty="0">
                <a:solidFill>
                  <a:srgbClr val="EE0000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6</a:t>
            </a:r>
            <a:endParaRPr lang="ru-RU" sz="1200" kern="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9" name="Выноска: стрелка вниз 28">
            <a:extLst>
              <a:ext uri="{FF2B5EF4-FFF2-40B4-BE49-F238E27FC236}">
                <a16:creationId xmlns:a16="http://schemas.microsoft.com/office/drawing/2014/main" id="{0A777C3B-7FF7-312A-D274-BAAEFEA9B7EB}"/>
              </a:ext>
            </a:extLst>
          </p:cNvPr>
          <p:cNvSpPr/>
          <p:nvPr/>
        </p:nvSpPr>
        <p:spPr>
          <a:xfrm>
            <a:off x="7302818" y="100965"/>
            <a:ext cx="314325" cy="407670"/>
          </a:xfrm>
          <a:prstGeom prst="downArrowCallout">
            <a:avLst/>
          </a:prstGeom>
          <a:noFill/>
          <a:ln w="9525" cap="flat" cmpd="sng" algn="ctr">
            <a:solidFill>
              <a:srgbClr val="EE0000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ru-RU" sz="1200" kern="100" dirty="0">
                <a:solidFill>
                  <a:srgbClr val="EE0000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8</a:t>
            </a:r>
            <a:endParaRPr lang="ru-RU" sz="1200" kern="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587BE74-B5AB-C899-C1F5-705652438A51}"/>
              </a:ext>
            </a:extLst>
          </p:cNvPr>
          <p:cNvSpPr txBox="1"/>
          <p:nvPr/>
        </p:nvSpPr>
        <p:spPr>
          <a:xfrm>
            <a:off x="8730615" y="3363218"/>
            <a:ext cx="3324225" cy="33085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8. Информация  – при нажатии появится список из  </a:t>
            </a:r>
            <a:r>
              <a:rPr lang="ru-RU" sz="1100" dirty="0">
                <a:solidFill>
                  <a:prstClr val="black"/>
                </a:solidFill>
                <a:latin typeface="Calibri" panose="020F0502020204030204"/>
              </a:rPr>
              <a:t>  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которого можно выбрать: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Лицензионное соглашение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Инструкция по использованию программы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Прайс-лист 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Формуляр для регистрации проектов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Каталог отопительного оборудования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Паспорт на радиатор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Сертификат соответствия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100" dirty="0">
                <a:solidFill>
                  <a:prstClr val="black"/>
                </a:solidFill>
                <a:latin typeface="Calibri" panose="020F0502020204030204"/>
              </a:rPr>
              <a:t>BIM</a:t>
            </a:r>
            <a:r>
              <a:rPr lang="ru-RU" sz="1100" dirty="0">
                <a:solidFill>
                  <a:prstClr val="black"/>
                </a:solidFill>
                <a:latin typeface="Calibri" panose="020F0502020204030204"/>
              </a:rPr>
              <a:t>-модель</a:t>
            </a:r>
            <a:endParaRPr kumimoji="0" lang="ru-RU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9. Проверить наличие обновлений, путём сверки версий, ранняя версия имеет меньший номер.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100" dirty="0">
              <a:solidFill>
                <a:prstClr val="black"/>
              </a:solidFill>
              <a:latin typeface="Calibri" panose="020F050202020403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10. Посмотреть/отредактировать предложенные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100" dirty="0">
                <a:solidFill>
                  <a:prstClr val="black"/>
                </a:solidFill>
                <a:latin typeface="Calibri" panose="020F0502020204030204"/>
              </a:rPr>
              <a:t> </a:t>
            </a: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аналоги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100" dirty="0">
              <a:solidFill>
                <a:prstClr val="black"/>
              </a:solidFill>
              <a:latin typeface="Calibri" panose="020F050202020403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Масштаб, кнопки – и + меняют масштаб интерфейса</a:t>
            </a:r>
          </a:p>
        </p:txBody>
      </p:sp>
      <p:sp>
        <p:nvSpPr>
          <p:cNvPr id="4" name="Выноска: стрелка вверх 3">
            <a:extLst>
              <a:ext uri="{FF2B5EF4-FFF2-40B4-BE49-F238E27FC236}">
                <a16:creationId xmlns:a16="http://schemas.microsoft.com/office/drawing/2014/main" id="{81D65F85-C9C5-20D0-F9FF-ECAE0BFA6CCA}"/>
              </a:ext>
            </a:extLst>
          </p:cNvPr>
          <p:cNvSpPr/>
          <p:nvPr/>
        </p:nvSpPr>
        <p:spPr>
          <a:xfrm>
            <a:off x="10414508" y="2480119"/>
            <a:ext cx="347980" cy="489585"/>
          </a:xfrm>
          <a:prstGeom prst="upArrowCallout">
            <a:avLst/>
          </a:prstGeom>
          <a:noFill/>
          <a:ln w="9525" cap="flat" cmpd="sng" algn="ctr">
            <a:solidFill>
              <a:srgbClr val="EE0000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ru-RU" sz="1200" kern="100" dirty="0">
                <a:solidFill>
                  <a:srgbClr val="FF0000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6" name="Выноска: стрелка вверх 5">
            <a:extLst>
              <a:ext uri="{FF2B5EF4-FFF2-40B4-BE49-F238E27FC236}">
                <a16:creationId xmlns:a16="http://schemas.microsoft.com/office/drawing/2014/main" id="{A71D9F60-F704-517D-ABE9-DB091F9DB9EE}"/>
              </a:ext>
            </a:extLst>
          </p:cNvPr>
          <p:cNvSpPr/>
          <p:nvPr/>
        </p:nvSpPr>
        <p:spPr>
          <a:xfrm>
            <a:off x="862076" y="2466403"/>
            <a:ext cx="347980" cy="417005"/>
          </a:xfrm>
          <a:prstGeom prst="upArrowCallout">
            <a:avLst/>
          </a:prstGeom>
          <a:noFill/>
          <a:ln w="9525" cap="flat" cmpd="sng" algn="ctr">
            <a:solidFill>
              <a:srgbClr val="EE0000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ru-RU" sz="1200" kern="100" dirty="0">
                <a:solidFill>
                  <a:srgbClr val="FF0000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9" name="Выноска: стрелка вверх 8">
            <a:extLst>
              <a:ext uri="{FF2B5EF4-FFF2-40B4-BE49-F238E27FC236}">
                <a16:creationId xmlns:a16="http://schemas.microsoft.com/office/drawing/2014/main" id="{A79B324A-74DC-589D-C00D-3D3E2691B2F7}"/>
              </a:ext>
            </a:extLst>
          </p:cNvPr>
          <p:cNvSpPr/>
          <p:nvPr/>
        </p:nvSpPr>
        <p:spPr>
          <a:xfrm>
            <a:off x="1666748" y="2460307"/>
            <a:ext cx="347980" cy="417005"/>
          </a:xfrm>
          <a:prstGeom prst="upArrowCallout">
            <a:avLst/>
          </a:prstGeom>
          <a:noFill/>
          <a:ln w="9525" cap="flat" cmpd="sng" algn="ctr">
            <a:solidFill>
              <a:srgbClr val="EE0000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kern="100" dirty="0">
                <a:solidFill>
                  <a:srgbClr val="FF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10</a:t>
            </a:r>
            <a:endParaRPr lang="ru-RU" sz="1200" kern="100" dirty="0">
              <a:solidFill>
                <a:srgbClr val="FF0000"/>
              </a:solidFill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FF148278-692E-4B2B-F07F-D2CE6C1EC949}"/>
              </a:ext>
            </a:extLst>
          </p:cNvPr>
          <p:cNvSpPr/>
          <p:nvPr/>
        </p:nvSpPr>
        <p:spPr>
          <a:xfrm>
            <a:off x="10495788" y="757428"/>
            <a:ext cx="1263396" cy="335280"/>
          </a:xfrm>
          <a:prstGeom prst="rect">
            <a:avLst/>
          </a:prstGeom>
          <a:noFill/>
          <a:ln w="19050" cap="flat" cmpd="sng" algn="ctr">
            <a:solidFill>
              <a:srgbClr val="EE0000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411304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299</Words>
  <Application>Microsoft Office PowerPoint</Application>
  <PresentationFormat>Широкоэкранный</PresentationFormat>
  <Paragraphs>61</Paragraphs>
  <Slides>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Абдуллин Олег (EngP3/SLC1)</dc:creator>
  <cp:lastModifiedBy>Абдуллин Олег (EngP3/SLC1)</cp:lastModifiedBy>
  <cp:revision>3</cp:revision>
  <dcterms:created xsi:type="dcterms:W3CDTF">2026-01-26T05:33:19Z</dcterms:created>
  <dcterms:modified xsi:type="dcterms:W3CDTF">2026-06-02T14:00:49Z</dcterms:modified>
</cp:coreProperties>
</file>